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Meiryo"/>
              </a:defRPr>
            </a:pPr>
            <a:r>
              <a:rPr sz="1300" b="0" i="0" u="none" strike="noStrike">
                <a:solidFill>
                  <a:srgbClr val="1E2761"/>
                </a:solidFill>
                <a:latin typeface="Meiryo"/>
              </a:rPr>
              <a:t>パターン別の概算総額（万円）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30名分の概算費用（万円）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.0&quot;万円&quot;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2233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③ 既製品＋名入れ</c:v>
                  </c:pt>
                  <c:pt idx="1">
                    <c:v>② 小ロットオーダー</c:v>
                  </c:pt>
                  <c:pt idx="2">
                    <c:v>① フルオーダー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18.1</c:v>
                </c:pt>
                <c:pt idx="1">
                  <c:v>31.8</c:v>
                </c:pt>
                <c:pt idx="2">
                  <c:v>47.5</c:v>
                </c:pt>
              </c:numCache>
            </c:numRef>
          </c:val>
        </c:ser>
        <c:dLbls>
          <c:numFmt formatCode="0.0&quot;万円&quot;" sourceLinked="0"/>
          <c:txPr>
            <a:bodyPr/>
            <a:lstStyle/>
            <a:p>
              <a:pPr>
                <a:defRPr b="0" i="0" strike="noStrike" sz="1200" u="none">
                  <a:solidFill>
                    <a:srgbClr val="1B2233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B2233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"/>
        </c:scaling>
        <c:delete val="0"/>
        <c:axPos val="b"/>
        <c:majorGridlines>
          <c:spPr>
            <a:ln w="12700" cap="flat">
              <a:solidFill>
                <a:srgbClr val="E4E9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48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司からの指示：新規ジャケット（工場訪問用作業着）とネックストラップについて、コスト感・発注先・納期・イメージ感を確認。候補は法人向けにオリジナル展開している企業をそれぞれ3案ピックアップ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金額はいずれも各社公開情報および業界相場からの目安。正式には見積依頼が必要。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候補①②は後輩の一次調査から。候補③は「一般サイトで発注した場合」の比較軸として追加。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B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95360" y="-1463040"/>
            <a:ext cx="5669280" cy="5669280"/>
          </a:xfrm>
          <a:prstGeom prst="ellipse">
            <a:avLst/>
          </a:prstGeom>
          <a:solidFill>
            <a:srgbClr val="1E2761">
              <a:alpha val="75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058400" y="3291840"/>
            <a:ext cx="3108960" cy="3108960"/>
          </a:xfrm>
          <a:prstGeom prst="ellipse">
            <a:avLst/>
          </a:prstGeom>
          <a:solidFill>
            <a:srgbClr val="E39B2E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916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39B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 RENEWAL /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103120"/>
            <a:ext cx="8686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工場ユニフォーム検討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154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新規ジャケット（工場訪問時の作業着）とネックストラップ</a:t>
            </a:r>
            <a:endParaRPr lang="en-US" sz="16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コスト感・発注先・納期・イメージ感の確認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22960" y="4709160"/>
            <a:ext cx="51206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3640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51560" y="470916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候補：ジャケット3案／ストラップ3案　法人向けオリジナル制作サイトを比較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58064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C97B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2026年9月6日／担当：髙山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調査サマリ（結論）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¥4,000〜18,000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ジャケット1着あたり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（既製品＋名入れ〜フルオーダー）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315968" y="15087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544568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¥150〜650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4544568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ストラップ1本あたり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（本数・印刷方式で変動）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083296" y="1508760"/>
            <a:ext cx="35204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311896" y="169164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0730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2週間〜5ヶ月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8311896" y="23317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納期の幅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（既製品加工〜フルオーダー量産）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34290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66928" y="34290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401568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価格差は「どこまでオリジナルにするか」でほぼ決まる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188720" y="373075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フルオーダー（型から起こす）は1着15,000〜18,000円、既製品への社名刺繍なら1着4,000〜6,000円台。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66928" y="439826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66928" y="439826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1188720" y="4370832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ネックストラップは現行品と同じフルカラー昇華転写が現実的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188720" y="470001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現行ストラップはフルカラー昇華。同等品は50〜100本で1本250〜650円程度、版代不要の業者が多い。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66928" y="5367528"/>
            <a:ext cx="457200" cy="457200"/>
          </a:xfrm>
          <a:prstGeom prst="ellipse">
            <a:avLst/>
          </a:prstGeom>
          <a:solidFill>
            <a:srgbClr val="E39B2E"/>
          </a:solidFill>
          <a:ln w="12700">
            <a:solidFill>
              <a:srgbClr val="E39B2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66928" y="53675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188720" y="5340096"/>
            <a:ext cx="10424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最大のリスクは納期。フルオーダーは着用希望日から逆算が必須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1188720" y="566928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フルオーダーは2〜5ヶ月。今冬から着用するならフルオーダーは実質間に合わない可能性が高い。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PREMISE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検討の前提と、先に決めたい5項目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5577840" cy="448056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本資料の前提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9377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想定人数は30名／1人あたりジャケット1着＋ストラップ1本で試算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用途は「工場訪問時の作業着」。常時着用の現場作業服ではなく、来客・視察対応も想定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ストラップは現行品（フルカラー昇華・両面プリント）と同等のイメージを踏襲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価格・納期は各社サイトおよび業界相場の公開情報ベースの目安。正式見積は別途取得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68680" y="4617720"/>
            <a:ext cx="4937760" cy="1188720"/>
          </a:xfrm>
          <a:prstGeom prst="roundRect">
            <a:avLst>
              <a:gd name="adj" fmla="val 4615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4709160"/>
            <a:ext cx="4572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見積依頼時に必ず伝える情報</a:t>
            </a:r>
            <a:endParaRPr lang="en-US" sz="12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数量／サイズ展開／希望納期／ロゴデータ形式（ai・eps）／予算上限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400800" y="1463040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583680" y="162763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0" y="16276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178040" y="15544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数量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84708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何名分か（サイズ別内訳も）。ロットで単価が大きく変わる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0" y="2368296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583680" y="2532888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0" y="2532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178040" y="245973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着用開始時期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75234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いつから着たいか。フルオーダー可否の分岐点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0" y="3273552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83680" y="34381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83680" y="34381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178040" y="336499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予算上限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657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1着いくらまで許容か（3案の選択に直結）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400800" y="4178808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583680" y="4343400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583680" y="4343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178040" y="42702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デザイン方針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56285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自社カラー・ロゴ位置。フルオーダーか既製品ベースか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400800" y="5084064"/>
            <a:ext cx="5212080" cy="77724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83680" y="5248656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0" y="524865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7178040" y="51755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支給範囲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54681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ジャケットのみか、パンツ・インナーも含むか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JACKET / 候補①〜③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ジャケット（工場訪問用作業着）候補3案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候補① フルオーダー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日本被服工業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nihonhifuku.jp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017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50セット〜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4747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15,000〜18,000円/着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39319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3931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約2〜3ヶ月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526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デザイン・素材選定からサンプル、サイズ合わせ、量産まで一貫対応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刺繍・プリント・ワッペンなど加工の選択肢が広い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完全オリジナルで他社と被らない／ブランディング効果が最も高い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15968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44568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4568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候補② 小ロット・パターンオーダー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44568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ユニフォームネット（Bechule）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44568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uniform-net.jp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44568" y="30175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96128" y="3017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20人分〜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34747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10,000〜20,000円/着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4544568" y="39319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3931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約3〜5ヶ月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4544568" y="4526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ヒアリング→デザインイラスト作成→サンプル制作まで対応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小ロット専用のパターンオーダー枠があり少人数でも実現可能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型は既存パターンを流用しコストと失敗リスクを抑えられる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83296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11896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E3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11896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候補③ 既製品＋名入れ（一般サイト）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11896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ユニフォームネクスト／ワークストリート 他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11896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uniformnext.com ほか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311896" y="30175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363456" y="30175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1着〜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311896" y="34747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363456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4,000〜8,000円/着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311896" y="3931920"/>
            <a:ext cx="1051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363456" y="39319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約2週間</a:t>
            </a:r>
            <a:endParaRPr lang="en-US" sz="1200" dirty="0"/>
          </a:p>
        </p:txBody>
      </p:sp>
      <p:sp>
        <p:nvSpPr>
          <p:cNvPr id="39" name="Text 37"/>
          <p:cNvSpPr txBox="1"/>
          <p:nvPr/>
        </p:nvSpPr>
        <p:spPr>
          <a:xfrm>
            <a:off x="8311896" y="452628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既製ブルゾンに社名刺繍・プリントを1着から加工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刺繍代は1着220〜660円程度（ロゴサイズ・色数で変動）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現物確認ができ、追加発注・サイズ交換も容易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JACKET / 比較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ジャケット3案の比較と向き・不向き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017520"/>
                <a:gridCol w="3017520"/>
                <a:gridCol w="3017520"/>
              </a:tblGrid>
              <a:tr h="5669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1B4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① 日本被服工業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フルオーダー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② ユニフォームネット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小ロットオーダー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③ 一般サイト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既製品＋名入れ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最小ロット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50セット〜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20人分〜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1着〜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単価目安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15,000〜18,000円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10,000〜20,000円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4,000〜8,000円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（＋刺繍220〜660円）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納期目安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2〜3ヶ月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3〜5ヶ月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2週間前後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デザイン自由度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◎ 型・素材から設計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○ 既存型をベースに調整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△ 既製デザイン＋ロゴのみ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初期費用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型代・サンプル代が発生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サンプル代が発生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ほぼ不要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向くケース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D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全社刷新・長期運用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少人数でも独自性を出したい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早く・安く始めたい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64240" cy="868680"/>
          </a:xfrm>
          <a:prstGeom prst="roundRect">
            <a:avLst>
              <a:gd name="adj" fmla="val 8421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5440680"/>
            <a:ext cx="10424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5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読み取り：30名規模なら①②はロット条件をクリアできるが、納期が2〜5ヶ月かかる。今期中の着用が必要なら③でスタートし、次期に①②へ移行する二段構えが現実的。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STRAP / 候補①〜③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ネックストラップ候補3案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候補① 法人・伴走型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キラメック（KILAMEK）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kilamek-novelty.com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小ロット5個〜／50本パッケージ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1828800" y="3529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要見積（1色プリント品あり）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0416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40416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要確認（納期交渉可）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4617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BtoB専門。専任担当と相談しながら素材・印刷・パーツを選定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完成データが手元になくてもデザイン面を相談できる点が他社との差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同社は作業服・刺繍加工も扱うため、ジャケットと窓口をまとめられる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15968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544568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2E5A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544568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候補② スピード・自動見積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4544568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HOTSTRAP（ホットストラップ）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544568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hotstrap.jp</a:t>
            </a:r>
            <a:endParaRPr lang="en-US" sz="1000" dirty="0"/>
          </a:p>
        </p:txBody>
      </p:sp>
      <p:sp>
        <p:nvSpPr>
          <p:cNvPr id="21" name="Text 19"/>
          <p:cNvSpPr txBox="1"/>
          <p:nvPr/>
        </p:nvSpPr>
        <p:spPr>
          <a:xfrm>
            <a:off x="4544568" y="3017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22" name="Text 20"/>
          <p:cNvSpPr txBox="1"/>
          <p:nvPr/>
        </p:nvSpPr>
        <p:spPr>
          <a:xfrm>
            <a:off x="5596128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1本〜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4544568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5596128" y="3529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シルク100本で244円/本〜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フルカラー昇華も対応</a:t>
            </a:r>
            <a:endParaRPr lang="en-US" sz="1050" dirty="0"/>
          </a:p>
        </p:txBody>
      </p:sp>
      <p:sp>
        <p:nvSpPr>
          <p:cNvPr id="25" name="Text 23"/>
          <p:cNvSpPr txBox="1"/>
          <p:nvPr/>
        </p:nvSpPr>
        <p:spPr>
          <a:xfrm>
            <a:off x="4544568" y="40416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596128" y="40416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通常6〜9営業日／最短3〜4営業日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4544568" y="4617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Web上の自動見積で本数・仕様別の金額をその場で確認できる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ナイロン10/15/20mm、合皮、プレミアムなど素材の選択肢が広い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50本以上は無料で試作1本を確認できる案内あり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8083296" y="1481328"/>
            <a:ext cx="3520440" cy="4572000"/>
          </a:xfrm>
          <a:prstGeom prst="roundRect">
            <a:avLst>
              <a:gd name="adj" fmla="val 20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8311896" y="1691640"/>
            <a:ext cx="3063240" cy="310896"/>
          </a:xfrm>
          <a:prstGeom prst="roundRect">
            <a:avLst>
              <a:gd name="adj" fmla="val 50000"/>
            </a:avLst>
          </a:prstGeom>
          <a:solidFill>
            <a:srgbClr val="E3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311896" y="169164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候補③ 昇華転写に強い専門店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8311896" y="2121408"/>
            <a:ext cx="3063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KANARY／青山ストラップ 他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311896" y="2688336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kanary.jp／ao-strap.com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8311896" y="3017520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最小ロット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9363456" y="3017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100本〜が中心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8311896" y="3529584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単価目安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9363456" y="3529584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昇華100本で650円/本前後</a:t>
            </a:r>
            <a:endParaRPr lang="en-US" sz="10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大ロットは150円台〜</a:t>
            </a:r>
            <a:endParaRPr lang="en-US" sz="1050" dirty="0"/>
          </a:p>
        </p:txBody>
      </p:sp>
      <p:sp>
        <p:nvSpPr>
          <p:cNvPr id="37" name="Text 35"/>
          <p:cNvSpPr txBox="1"/>
          <p:nvPr/>
        </p:nvSpPr>
        <p:spPr>
          <a:xfrm>
            <a:off x="8311896" y="4041648"/>
            <a:ext cx="1051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納期目安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9363456" y="4041648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サンプル約1週間＋量産約3週間</a:t>
            </a:r>
            <a:endParaRPr lang="en-US" sz="1050" dirty="0"/>
          </a:p>
        </p:txBody>
      </p:sp>
      <p:sp>
        <p:nvSpPr>
          <p:cNvPr id="39" name="Text 37"/>
          <p:cNvSpPr txBox="1"/>
          <p:nvPr/>
        </p:nvSpPr>
        <p:spPr>
          <a:xfrm>
            <a:off x="8311896" y="4617720"/>
            <a:ext cx="30632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昇華転写のため製版不要＝版代がかからない業者が多い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グラデーション・写真・多色デザインを再現しやすい</a:t>
            </a:r>
            <a:endParaRPr lang="en-US" sz="1050" dirty="0"/>
          </a:p>
          <a:p>
            <a:pPr marL="342900" indent="-342900">
              <a:lnSpc>
                <a:spcPts val="1500"/>
              </a:lnSpc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本数が増えるほど単価が下がるため、まとめ発注向き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STRAP / イメージ感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ストラップのイメージ感と仕様の考え方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2788920"/>
          </a:xfrm>
          <a:prstGeom prst="roundRect">
            <a:avLst>
              <a:gd name="adj" fmla="val 2623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現行ストラップから引き継ぐ要素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8463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印刷：フルカラー昇華転写（ブルー〜パープルのグラデーション）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文言：「考え抜く。未来のために。／Think Deeply for the Future.」を両面に配置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幅：15〜20mm相当。長さ調整パーツ＋安全パーツ（着脱バックル）付き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金具：ナスカン（回転式）。社員証ケースとの組み合わせを想定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4480560"/>
            <a:ext cx="5486400" cy="1828800"/>
          </a:xfrm>
          <a:prstGeom prst="roundRect">
            <a:avLst>
              <a:gd name="adj" fmla="val 4000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46634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結論：同等品は十分に再現可能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5074920"/>
            <a:ext cx="4846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グラデーションや写真表現は昇華転写の得意領域で、製版が不要なため版代もかからないケースが多い。デザインデータ（ai／eps）さえ用意できれば、50〜100本規模から現行品と同等の仕上がりが狙える。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481328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92240" y="159105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印刷方式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7726680" y="157276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昇華転写（フルカラー）／シルクスクリーン（1〜6色）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1920240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写真・グラデーションなら昇華一択。単色ロゴのみならシルクが安い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309360" y="2450592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492240" y="256032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素材・幅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7726680" y="2542032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ナイロン／ポリエステル、10・15・20mm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2889504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社員証用途は15〜20mmが標準。太いほど印刷が映える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309360" y="3419856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3529584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パーツ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7726680" y="3511296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ナスカン、長さ調整、安全バックル、リール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858768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工場内での引っ掛かり対策として安全バックルは必須級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4389120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492240" y="449884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ロット・単価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7726680" y="4480560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50〜100本〜／250〜650円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4828032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本数を増やすほど単価は下がる。予備分を含めた発注が有利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309360" y="5358384"/>
            <a:ext cx="5303520" cy="841248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92240" y="5468112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7726680" y="5449824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ai／eps（アウトライン化）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6492240" y="5797296"/>
            <a:ext cx="4983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データがない場合はキラメックのようなデザイン相談可の業者を選ぶ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BENCHMARK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「一般サイトで発注したらどうなるか」の検証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ジャケットを一般サイトで買う場合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ユニフォームネクスト／ワークストリート／ワークキング／ユニフォームタウン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606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90779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1着から購入でき、社名刺繍も1着から対応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本体3,000〜4,000円台のブルゾンも選べる（上下で7,000〜8,000円）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納期は加工込みで約2週間、在庫があれば即日出荷も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4251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5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デメリット・注意点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455371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デザインは既製品の範囲。他社と被る可能性がある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刺繍位置・サイズの自由度は限定的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同一品番が廃番になると翌年に揃わないリスク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17920" y="1481328"/>
            <a:ext cx="5394960" cy="4572000"/>
          </a:xfrm>
          <a:prstGeom prst="roundRect">
            <a:avLst>
              <a:gd name="adj" fmla="val 1600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6492240" y="169164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ストラップを一般サイトで買う場合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92240" y="2057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ラクスル／アスクルパプリ／ノベルティ系ECほか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6492240" y="260604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7A4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メリット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2907792"/>
            <a:ext cx="4846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Web完結で単価と納期が即時に分かる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小ロット・短納期に強く、送料無料の設定も多い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テンプレートでのデザイン作成に対応する場合がある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425196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345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デメリット・注意点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492240" y="4553712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原則、入稿データ（ai／eps）の用意が前提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細かなパーツ指定・色合わせの相談はしづらい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仕上がりの事前確認（試作）が有料または不可の場合がある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COST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コスト試算（30名分：ジャケット1着＋ストラップ1本）</a:t>
            </a:r>
            <a:endParaRPr lang="en-US" sz="30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400800" cy="4480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600200"/>
            <a:ext cx="4389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52360" y="1691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フルオーダー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7452360" y="198424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ジャケット15,000円×30＝45.0万円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ストラップ500円×50本＝2.5万円</a:t>
            </a:r>
            <a:endParaRPr lang="en-US" sz="1050" dirty="0"/>
          </a:p>
        </p:txBody>
      </p:sp>
      <p:sp>
        <p:nvSpPr>
          <p:cNvPr id="8" name="Text 5"/>
          <p:cNvSpPr txBox="1"/>
          <p:nvPr/>
        </p:nvSpPr>
        <p:spPr>
          <a:xfrm>
            <a:off x="7452360" y="25146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約47.5万円＋型代・サンプル代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223760" y="3063240"/>
            <a:ext cx="4389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52360" y="3154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小ロットオーダー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452360" y="344728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ジャケット10,000円×30＝30.0万円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ストラップ350円×50本＝1.8万円</a:t>
            </a:r>
            <a:endParaRPr lang="en-US" sz="1050" dirty="0"/>
          </a:p>
        </p:txBody>
      </p:sp>
      <p:sp>
        <p:nvSpPr>
          <p:cNvPr id="12" name="Text 9"/>
          <p:cNvSpPr txBox="1"/>
          <p:nvPr/>
        </p:nvSpPr>
        <p:spPr>
          <a:xfrm>
            <a:off x="7452360" y="39776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約31.8万円＋サンプル代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7223760" y="4526280"/>
            <a:ext cx="4389120" cy="128016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7452360" y="46177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既製品＋名入れ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7452360" y="4910328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ジャケット5,600円×30＝16.8万円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ストラップ250円×50本＝1.3万円</a:t>
            </a:r>
            <a:endParaRPr lang="en-US" sz="1050" dirty="0"/>
          </a:p>
        </p:txBody>
      </p:sp>
      <p:sp>
        <p:nvSpPr>
          <p:cNvPr id="16" name="Text 13"/>
          <p:cNvSpPr txBox="1"/>
          <p:nvPr/>
        </p:nvSpPr>
        <p:spPr>
          <a:xfrm>
            <a:off x="7452360" y="54406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約18.1万円</a:t>
            </a:r>
            <a:endParaRPr lang="en-US" sz="1150" dirty="0"/>
          </a:p>
        </p:txBody>
      </p:sp>
      <p:sp>
        <p:nvSpPr>
          <p:cNvPr id="17" name="Text 14"/>
          <p:cNvSpPr txBox="1"/>
          <p:nvPr/>
        </p:nvSpPr>
        <p:spPr>
          <a:xfrm>
            <a:off x="7223760" y="598932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※ 各社公開情報・業界相場からの目安。ストラップは最小ロットを50本として試算。送料・型代・サンプル代は別途。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SCHEDULE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想定スケジュール（発注方式別）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13055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既製品＋名入れ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834640" y="2148840"/>
            <a:ext cx="1737360" cy="530352"/>
          </a:xfrm>
          <a:prstGeom prst="roundRect">
            <a:avLst>
              <a:gd name="adj" fmla="val 10345"/>
            </a:avLst>
          </a:prstGeom>
          <a:solidFill>
            <a:srgbClr val="E39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83464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商品選定・現物確認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4663440" y="2148840"/>
            <a:ext cx="1280160" cy="530352"/>
          </a:xfrm>
          <a:prstGeom prst="roundRect">
            <a:avLst>
              <a:gd name="adj" fmla="val 10345"/>
            </a:avLst>
          </a:prstGeom>
          <a:solidFill>
            <a:srgbClr val="E39B2E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2148840"/>
            <a:ext cx="1280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データ入稿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6035040" y="2148840"/>
            <a:ext cx="1737360" cy="530352"/>
          </a:xfrm>
          <a:prstGeom prst="roundRect">
            <a:avLst>
              <a:gd name="adj" fmla="val 10345"/>
            </a:avLst>
          </a:prstGeom>
          <a:solidFill>
            <a:srgbClr val="E39B2E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加工・納品</a:t>
            </a:r>
            <a:endParaRPr lang="en-US" sz="95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336499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5A8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小ロットオーダー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834640" y="3383280"/>
            <a:ext cx="2377440" cy="530352"/>
          </a:xfrm>
          <a:prstGeom prst="roundRect">
            <a:avLst>
              <a:gd name="adj" fmla="val 10345"/>
            </a:avLst>
          </a:prstGeom>
          <a:solidFill>
            <a:srgbClr val="2E5A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34640" y="3383280"/>
            <a:ext cx="2377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ヒアリング・デザイン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303520" y="3383280"/>
            <a:ext cx="2743200" cy="530352"/>
          </a:xfrm>
          <a:prstGeom prst="roundRect">
            <a:avLst>
              <a:gd name="adj" fmla="val 10345"/>
            </a:avLst>
          </a:prstGeom>
          <a:solidFill>
            <a:srgbClr val="2E5A8C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03520" y="3383280"/>
            <a:ext cx="2743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サンプル制作・確認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138160" y="3383280"/>
            <a:ext cx="3108960" cy="530352"/>
          </a:xfrm>
          <a:prstGeom prst="roundRect">
            <a:avLst>
              <a:gd name="adj" fmla="val 10345"/>
            </a:avLst>
          </a:prstGeom>
          <a:solidFill>
            <a:srgbClr val="2E5A8C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38160" y="3383280"/>
            <a:ext cx="31089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量産・納品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99432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フルオーダー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834640" y="4617720"/>
            <a:ext cx="2194560" cy="530352"/>
          </a:xfrm>
          <a:prstGeom prst="roundRect">
            <a:avLst>
              <a:gd name="adj" fmla="val 10345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834640" y="461772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仕様・素材決定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120640" y="4617720"/>
            <a:ext cx="2926080" cy="530352"/>
          </a:xfrm>
          <a:prstGeom prst="roundRect">
            <a:avLst>
              <a:gd name="adj" fmla="val 10345"/>
            </a:avLst>
          </a:prstGeom>
          <a:solidFill>
            <a:srgbClr val="1E2761">
              <a:alpha val="7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120640" y="461772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型・サンプル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138160" y="4617720"/>
            <a:ext cx="3657600" cy="530352"/>
          </a:xfrm>
          <a:prstGeom prst="roundRect">
            <a:avLst>
              <a:gd name="adj" fmla="val 10345"/>
            </a:avLst>
          </a:prstGeom>
          <a:solidFill>
            <a:srgbClr val="1E2761">
              <a:alpha val="56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38160" y="4617720"/>
            <a:ext cx="3657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量産・納品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283464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発注月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29768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+1ヶ月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576072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+2ヶ月</a:t>
            </a:r>
            <a:endParaRPr lang="en-US" sz="1050" dirty="0"/>
          </a:p>
        </p:txBody>
      </p:sp>
      <p:sp>
        <p:nvSpPr>
          <p:cNvPr id="28" name="Text 26"/>
          <p:cNvSpPr txBox="1"/>
          <p:nvPr/>
        </p:nvSpPr>
        <p:spPr>
          <a:xfrm>
            <a:off x="722376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+3ヶ月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868680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+4ヶ月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10149840" y="16459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+5ヶ月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562356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68680" y="5623560"/>
            <a:ext cx="10424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納期は「発注確定後」の期間。実際にはこの前に社内での仕様決定・稟議期間が必要なため、着用希望日から逆算して1ヶ月程度の余裕を見込む。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NEXT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推奨案と次のアクション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5486400" cy="2331720"/>
          </a:xfrm>
          <a:prstGeom prst="roundRect">
            <a:avLst>
              <a:gd name="adj" fmla="val 3137"/>
            </a:avLst>
          </a:prstGeom>
          <a:solidFill>
            <a:srgbClr val="1E2761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69164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推奨：二段構え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148840"/>
            <a:ext cx="48463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短期：ジャケットは③既製品＋社名刺繍で先行導入（約2週間・30名で約17万円）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中期：来期に向けて①または②のフルオーダーを並行検討（サンプルまで進める）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CADCF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ストラップは現行と同じ昇華転写で、まず50〜100本の見積を3社取得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3977640"/>
            <a:ext cx="5486400" cy="210312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  <a:effectLst>
            <a:outerShdw sx="100000" sy="100000" kx="0" ky="0" algn="bl" rotWithShape="0" blurRad="101600" dist="25400" dir="5400000">
              <a:srgbClr val="9AA5C0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868680" y="4160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上長に判断いただきたい点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4572000"/>
            <a:ext cx="48463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着用開始の目標時期（＝フルオーダー可否の分岐）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1着あたりの予算上限</a:t>
            </a:r>
            <a:endParaRPr lang="en-US" sz="1200" dirty="0"/>
          </a:p>
          <a:p>
            <a:pPr marL="342900" indent="-342900">
              <a:lnSpc>
                <a:spcPts val="1900"/>
              </a:lnSpc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デザインは既存ロゴ流用か、新規制作か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309360" y="1481328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1755648"/>
            <a:ext cx="457200" cy="457200"/>
          </a:xfrm>
          <a:prstGeom prst="ellipse">
            <a:avLst/>
          </a:prstGeom>
          <a:solidFill>
            <a:srgbClr val="E39B2E"/>
          </a:solidFill>
          <a:ln w="12700">
            <a:solidFill>
              <a:srgbClr val="E39B2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492240" y="175564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7086600" y="1627632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見積依頼（ジャケット3社）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7086600" y="1938528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日本被服工業／ユニフォームネット／一般サイト1社に同条件で依頼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10378440" y="162763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9月中旬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09360" y="2651760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2926080"/>
            <a:ext cx="457200" cy="457200"/>
          </a:xfrm>
          <a:prstGeom prst="ellipse">
            <a:avLst/>
          </a:prstGeom>
          <a:solidFill>
            <a:srgbClr val="E39B2E"/>
          </a:solidFill>
          <a:ln w="12700">
            <a:solidFill>
              <a:srgbClr val="E39B2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92240" y="29260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7086600" y="2798064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見積依頼（ストラップ3社）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086600" y="3108960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キラメック／HOTSTRAP／昇華専門店に50・100本の2条件で依頼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10378440" y="279806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9月中旬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09360" y="3822192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92240" y="4096512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92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500" dirty="0"/>
          </a:p>
        </p:txBody>
      </p:sp>
      <p:sp>
        <p:nvSpPr>
          <p:cNvPr id="25" name="Text 23"/>
          <p:cNvSpPr txBox="1"/>
          <p:nvPr/>
        </p:nvSpPr>
        <p:spPr>
          <a:xfrm>
            <a:off x="7086600" y="396849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サンプル取り寄せ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7086600" y="4279392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既製ブルゾンの現物と、ストラップの試作を確認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10378440" y="396849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9月下旬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309360" y="4992624"/>
            <a:ext cx="5303520" cy="1024128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DDE3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492240" y="5266944"/>
            <a:ext cx="457200" cy="45720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4922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1500" dirty="0"/>
          </a:p>
        </p:txBody>
      </p:sp>
      <p:sp>
        <p:nvSpPr>
          <p:cNvPr id="31" name="Text 29"/>
          <p:cNvSpPr txBox="1"/>
          <p:nvPr/>
        </p:nvSpPr>
        <p:spPr>
          <a:xfrm>
            <a:off x="7086600" y="5138928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23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社内比較・方針決定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7086600" y="5449824"/>
            <a:ext cx="4389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5A6483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見積を並べて短期／中期の方針を確定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10378440" y="5138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10月上旬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4747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E39B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APPENDIX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21792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参照した情報源と留意事項</a:t>
            </a:r>
            <a:endParaRPr lang="en-US" sz="30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6424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91840"/>
                <a:gridCol w="4297680"/>
                <a:gridCol w="228600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区分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サイト・企業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参照内容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ドメイン</a:t>
                      </a:r>
                      <a:endParaRPr lang="en-US" sz="11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日本被服工業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オリジナル作業着オーダー制作／セミオーダー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nihonhifuku.jp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ユニフォームネット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小ロット専用パターンオーダー Bechule／20人からの小ロット特集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uniform-net.jp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KIRUMIRAI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フルオーダー作業着の最小ロット・価格・製作期間の調査記事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kirumirai.com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ジャケット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ユニフォームネクスト 他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既製品への名入れ刺繍・プリント加工、価格相場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uniformnext.com ほか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キラメック（キラメックノベルティ）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法人向けオリジナルネックストラップ、小ロット対応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kilamek-novelty.com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HOTSTRAP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ナイロン／フルカラー昇華の価格・納期、自動見積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hotstrap.jp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E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E2761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KANARY／青山ストラップ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昇華転写ネックストラップの価格表・仕様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2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kanary.jp／ao-strap.com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48640" y="544068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DF4E4"/>
          </a:solidFill>
          <a:ln w="12700">
            <a:solidFill>
              <a:srgbClr val="F0DCB8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68680" y="54406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8A5A12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留意事項：本資料の価格・納期・ロットはいずれも2026年9月時点の各社公開情報および業界相場から整理した「目安」です。仕様や数量、時期によって変動するため、発注判断の前に各社へ同一条件での正式見積を依頼してください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工場ユニフォーム検討</dc:title>
  <dc:subject>PptxGenJS Presentation</dc:subject>
  <dc:creator/>
  <cp:lastModifiedBy/>
  <cp:revision>1</cp:revision>
  <dcterms:created xsi:type="dcterms:W3CDTF">2026-09-06T01:29:44Z</dcterms:created>
  <dcterms:modified xsi:type="dcterms:W3CDTF">2026-09-06T01:29:44Z</dcterms:modified>
</cp:coreProperties>
</file>